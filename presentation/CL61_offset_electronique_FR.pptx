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  <a:latin typeface="Cambria"/>
              </a:defRPr>
            </a:pPr>
            <a:r>
              <a:t>Offset electronique du CL61</a:t>
            </a:r>
          </a:p>
          <a:p>
            <a:pPr algn="l">
              <a:spcAft>
                <a:spcPts val="400"/>
              </a:spcAft>
              <a:defRPr sz="2100" b="0">
                <a:solidFill>
                  <a:srgbClr val="CADCFC"/>
                </a:solidFill>
                <a:latin typeface="Calibri"/>
              </a:defRPr>
            </a:pPr>
            <a:r>
              <a:t>et calibration Rayleigh : diagnostic, modele physique, correction, implications reseau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FB4C2"/>
                </a:solidFill>
                <a:latin typeface="Calibri"/>
              </a:defRPr>
            </a:pPr>
            <a:r>
              <a:t>E-PROFILE / MeteoSwiss — Payerne, Aoste, Camborne, Lindenberg, Uccle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9FB4C2"/>
                </a:solidFill>
                <a:latin typeface="Calibri"/>
              </a:defRPr>
            </a:pPr>
            <a:r>
              <a:t>Analyse 2026-07 · mesures hood mai–juin 2026 · rapport : cl61_rayleigh_investigation.md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Le probleme : deux calibrations, deux constantes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Payerne CL61 (ident C), mars–juin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4023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400" b="1">
                <a:solidFill>
                  <a:srgbClr val="D62728"/>
                </a:solidFill>
                <a:latin typeface="Calibri"/>
              </a:defRPr>
            </a:pPr>
            <a:r>
              <a:t>−12 %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6454F"/>
                </a:solidFill>
                <a:latin typeface="Calibri"/>
              </a:defRPr>
            </a:pPr>
            <a:r>
              <a:t>ecart entre C_L(Rayleigh) = 1.25</a:t>
            </a:r>
            <a:br/>
            <a:r>
              <a:t>et C_L(nuage) = 1.43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La methode nuage est ancree : accord −0.6 % avec le CHM15k co-localise (calibre independamment).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846320" y="1554480"/>
          <a:ext cx="67665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65176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Hypothese testee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Correction vapeur d'eau absente (cal. / validation)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Non — appliquee, essentielle (T²wv≈0.78 → +28 % sur C_L)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Longueur d'onde laser (910.74 vs 910.55 nm)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Non — +0.5 % ; enveloppe spectrale ≤ 2.4 %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Contamination aerosol de la fenetre moleculaire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Non — mauvais signe (gonflerait C_L)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Rapport lidar (52 sr, transmission Klett)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Non — 2σ ≈ 2–6 % (scan ±20 sr)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CAMS 1° vs 0.4° / vs radiosondage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Non — ≤0.3 % / −3.6 % (secondaire)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Offset electronique (signal residuel negatif)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6454F"/>
                          </a:solidFill>
                        </a:defRPr>
                      </a:pPr>
                      <a:r>
                        <a:t>CONFIRME — cause principale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Mesure directe : telescope couvert (hood)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3 fenetres operationnelles retrouvees dans l'archive L1 — aucune atmosphere : la moyenne EST l'offset</a:t>
            </a:r>
          </a:p>
        </p:txBody>
      </p:sp>
      <p:pic>
        <p:nvPicPr>
          <p:cNvPr id="4" name="Picture 3" descr="fig_cl61_dark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7863840" cy="41388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58200" y="1645920"/>
          <a:ext cx="3383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z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b_dark [Mm⁻¹sr⁻¹]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3 km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−0.008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8 km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−0.027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58200" y="329184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36454F"/>
                </a:solidFill>
                <a:latin typeface="Calibri"/>
              </a:defRPr>
            </a:pPr>
            <a:r>
              <a:t>Signature 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negatif, croissant avec l'altitude, remontant vers zero (~11 km)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en signal non corrige de la distance β/z² : lobe positif proche puis undershoot negatif — reponse d'un filtre passe-haut (couplage AC), pas un offset constant amplifie par z²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• histogrammes quasi-gaussiens, centre decale : un decalage de distribution, pas des valeurs aberrantes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Impact sur la calibration moleculaire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L'offset vaut 3–13 % du signal moleculaire que la methode Rayleigh ajuste</a:t>
            </a:r>
          </a:p>
        </p:txBody>
      </p:sp>
      <p:pic>
        <p:nvPicPr>
          <p:cNvPr id="4" name="Picture 3" descr="fig_cl61_dark_vs_mole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589520" cy="298159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83879" y="1645920"/>
          <a:ext cx="3657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fenetre a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biais C_L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2 km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−3.1 %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−7.8 %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4 km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−10.6 %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5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−13.0 %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6 km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6454F"/>
                          </a:solidFill>
                        </a:defRPr>
                      </a:pPr>
                      <a:r>
                        <a:t>−44.7 %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83879" y="3749039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L'ecart observe (−12 %) correspond a une fenetre effective a 4.5–5 km — exactement ou l'algorithme place ses fenetres (2.6–6 km).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E7B84"/>
                </a:solidFill>
                <a:latin typeface="Calibri"/>
              </a:defRPr>
            </a:pPr>
            <a:r>
              <a:t>L'offset est tres inferieur au bruit par profil → invisible profil par profil, il n'emerge que dans la moyenne nocturne.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Preuve causale (1/2) : profils avant / apres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Nuits claires de calibration — la correction aligne le profil sur le modele « constante nuage »</a:t>
            </a:r>
          </a:p>
        </p:txBody>
      </p:sp>
      <p:pic>
        <p:nvPicPr>
          <p:cNvPr id="4" name="Picture 3" descr="fig_cl61_profiles_before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10789920" cy="4046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E7B84"/>
                </a:solidFill>
                <a:latin typeface="Calibri"/>
              </a:defRPr>
            </a:pPr>
            <a:r>
              <a:t>Corrige (bleu) ↔ modele C_L(nuage)·βmol·T² (rouge) dans la fenetre 3–5 km ; l'original (gris) suit le modele Rayleigh biaise bas : l'offset est le coin entre les deux methodes.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Preuve causale (2/2) : recalibration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Soustraction de b_dark(z) puis recalibration eprof_v2 (WV active) nuit par nuit</a:t>
            </a:r>
          </a:p>
        </p:txBody>
      </p:sp>
      <p:pic>
        <p:nvPicPr>
          <p:cNvPr id="4" name="Picture 3" descr="fig_cl61_offset_corr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589520" cy="3478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1F77B4"/>
                </a:solidFill>
                <a:latin typeface="Calibri"/>
              </a:defRPr>
            </a:pPr>
            <a:r>
              <a:t>−26.5 % → −8.3 %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ecart median a la constante nuage, nuits communes (rampe lineaire)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36454F"/>
                </a:solidFill>
                <a:latin typeface="Calibri"/>
              </a:defRPr>
            </a:pPr>
            <a:r>
              <a:t>+4 / +22 / +23 % par nuit appariee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9 nuits eligibles au lieu de 7 : l'offset faisait aussi echouer le critere de fenetre (|intercept|).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E7B84"/>
                </a:solidFill>
                <a:latin typeface="Calibri"/>
              </a:defRPr>
            </a:pPr>
            <a:r>
              <a:t>Le modele physique (couplage AC, diapo suivante) fait aussi bien : −7.2 %, dispersion nuit-a-nuit 0.1 %.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Modele physique : reponse d'une chaine a couplage 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Lobe positif rapide − undershoot lent remontant vers zero = reponse impulsionnelle d'un filtre passe-haut</a:t>
            </a:r>
          </a:p>
        </p:txBody>
      </p:sp>
      <p:pic>
        <p:nvPicPr>
          <p:cNvPr id="4" name="Picture 3" descr="fig_cl61_offset_physica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772400" cy="2677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17320"/>
            <a:ext cx="3703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F77B4"/>
                </a:solidFill>
                <a:latin typeface="Calibri"/>
              </a:defRPr>
            </a:pPr>
            <a:r>
              <a:t>P(r) = A_p e^(−r/L_p) − A_u e^(−r/L_u) + b_∞</a:t>
            </a:r>
          </a:p>
          <a:p>
            <a:pPr algn="l">
              <a:spcAft>
                <a:spcPts val="400"/>
              </a:spcAft>
              <a:defRPr sz="1150" b="0">
                <a:solidFill>
                  <a:srgbClr val="36454F"/>
                </a:solidFill>
                <a:latin typeface="Calibri"/>
              </a:defRPr>
            </a:pPr>
            <a:r>
              <a:t>Le couplage AC bloque le DC (fond + courant d'obscurite, ×1000 le signal). Sa reponse a une impulsion : l'impulsion MOINS un undershoot d'aire egale (integrale nulle).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83879" y="3383280"/>
          <a:ext cx="370332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14400"/>
                <a:gridCol w="15544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terme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τ = 2L/c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origine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lobe +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4.7 µs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transitoire proche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undershoot 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30.5 µs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recovery couplage AC (RC)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4526280"/>
            <a:ext cx="3703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• 3 regimes : lobe + (0–1.7 km), undershoot − (min 2.8 km), remontee lente puis plat (&gt;11 km)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• la rampe lineaire = limite petit-r du terme lent ; τ_u≈30 µs vs fenetre ~100 µs → aspect quasi-lineaire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36454F"/>
                </a:solidFill>
                <a:latin typeface="Calibri"/>
              </a:defRPr>
            </a:pPr>
            <a:r>
              <a:t>• le SIGNE tranche : undershoot AC = negatif remontant (nos hood) ; l'afterpulse donnerait une traine POSITIVE → exclu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36454F"/>
                </a:solidFill>
                <a:latin typeface="Calibri"/>
              </a:defRPr>
            </a:pPr>
            <a:r>
              <a:t>• RMSE ÷ 2 vs la rampe ; recalibration −7.2 %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Dependance en temperature : offset surtout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3 fenetres hood, temperature interne 22–44 °C — la constante RC ne derive pas, l'amplitude si (modestement)</a:t>
            </a:r>
          </a:p>
        </p:txBody>
      </p:sp>
      <p:pic>
        <p:nvPicPr>
          <p:cNvPr id="4" name="Picture 3" descr="fig_cl61_offset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863840" cy="4765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554480"/>
            <a:ext cx="3611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F77B4"/>
                </a:solidFill>
                <a:latin typeface="Calibri"/>
              </a:defRPr>
            </a:pPr>
            <a:r>
              <a:t>Constante RC τ_u stable (~37 µs)</a:t>
            </a:r>
          </a:p>
          <a:p>
            <a:pPr algn="l">
              <a:spcAft>
                <a:spcPts val="800"/>
              </a:spcAft>
              <a:defRPr sz="1150" b="0">
                <a:solidFill>
                  <a:srgbClr val="36454F"/>
                </a:solidFill>
                <a:latin typeface="Calibri"/>
              </a:defRPr>
            </a:pPr>
            <a:r>
              <a:t>→ la forme de la remontee ne depend pas de la temperature.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F77B4"/>
                </a:solidFill>
                <a:latin typeface="Calibri"/>
              </a:defRPr>
            </a:pPr>
            <a:r>
              <a:t>Amplitude A_u : +quand l'electronique refroidit</a:t>
            </a:r>
          </a:p>
          <a:p>
            <a:pPr algn="l">
              <a:spcAft>
                <a:spcPts val="800"/>
              </a:spcAft>
              <a:defRPr sz="1150" b="0">
                <a:solidFill>
                  <a:srgbClr val="36454F"/>
                </a:solidFill>
                <a:latin typeface="Calibri"/>
              </a:defRPr>
            </a:pPr>
            <a:r>
              <a:t>~−1.5 %/K — coherent avec le coefficient de temperature NEGATIF du gain APD (plus froid → plus de gain → undershoot plus profond).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1F77B4"/>
                </a:solidFill>
                <a:latin typeface="Calibri"/>
              </a:defRPr>
            </a:pPr>
            <a:r>
              <a:t>In-session ×1.13, poole ×1.32</a:t>
            </a:r>
          </a:p>
          <a:p>
            <a:pPr algn="l">
              <a:spcAft>
                <a:spcPts val="800"/>
              </a:spcAft>
              <a:defRPr sz="1150" b="0">
                <a:solidFill>
                  <a:srgbClr val="36454F"/>
                </a:solidFill>
                <a:latin typeface="Calibri"/>
              </a:defRPr>
            </a:pPr>
            <a:r>
              <a:t>dans la seule session de 25.5 h (seule la temperature varie) : ×1.13 ; le ×1.32 poole inclut une derive ENTRE sessions.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36454F"/>
                </a:solidFill>
                <a:latin typeface="Calibri"/>
              </a:defRPr>
            </a:pPr>
            <a:r>
              <a:t>Consequence : un seul b(z) mesure retire l'essentiel du biais ; re-caracterisation periodique &gt; indexation temperature instantanee.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Coherence reseau : le signe de l'offset explique tout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Proxy mensuel 9–13 km (attendu ≈ +0.03) · firmware 1.2.7 constant partout — aucun evenement de configuration</a:t>
            </a:r>
          </a:p>
        </p:txBody>
      </p:sp>
      <p:pic>
        <p:nvPicPr>
          <p:cNvPr id="4" name="Picture 3" descr="fig_cl61_network_coh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6949440" cy="279218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79" y="1554480"/>
          <a:ext cx="4343399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74519"/>
                <a:gridCol w="12801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Offset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ratio ray/nuage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Payerne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negatif stable (−0.015)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0.87 ✓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Camborne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negatif (−0.03…−0.05)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0.945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Aoste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change de signe (hiver − / ete +)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0.89 + cycle ✓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Uccle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±0.02 autour de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serie Rayleigh inutilisable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Lindenberg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POSITIF croissant (→ +0.10)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6454F"/>
                          </a:solidFill>
                        </a:defRPr>
                      </a:pPr>
                      <a:r>
                        <a:t>1.06 (ray HAUT) ✓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3794760"/>
            <a:ext cx="4343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Aoste : la convergence Rayleigh–nuage a partir d'avril 2026 = relaxation de l'offset hivernal (dependance a la temperature interne) + montee du levier vapeur d'eau (corr +0.93). Pas de changement materiel/firmware.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Ce que dit la litterature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Le phenomene est documente — le modele physique et la quantification C_L sont notre apport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F77B4"/>
                </a:solidFill>
                <a:latin typeface="Calibri"/>
              </a:defRPr>
            </a:pPr>
            <a:r>
              <a:t>Kotthaus et al. 2016 (AMT) — CL31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APD couplee en AC avec « zero variable » : baseline negative dependante de la distance (« cosmetic shift »), non nulle jusqu'a ~5.5 km, dependante de la temperature ; correction hood OBLIGATOIRE avant calibration. Le cas d'ecole du couplage 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15544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F77B4"/>
                </a:solidFill>
                <a:latin typeface="Calibri"/>
              </a:defRPr>
            </a:pPr>
            <a:r>
              <a:t>Le et al. 2026 (AMT, en revision) — CL61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« Residual background components may still remain » apres la correction interne ; soustraction hood P(r,T) indexee en temperature, repetee tous les ~6 mois ; une unite biaisee des 5 km — dans la fenetre Rayleigh.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5544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F77B4"/>
                </a:solidFill>
                <a:latin typeface="Calibri"/>
              </a:defRPr>
            </a:pPr>
            <a:r>
              <a:t>Hopkin 2019 · Looschelders 2025 · electronique nucleaire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36454F"/>
                </a:solidFill>
                <a:latin typeface="Calibri"/>
              </a:defRPr>
            </a:pPr>
            <a:r>
              <a:t>« Doivent etre corriges pour les signaux faibles… negligeables pour les nuages » → la divergence exacte de nos 2 methodes. Le baseline shift des chaines AC a fort taux est un classique (Knoll) : remede = baseline restorer / compensation pole-zero.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36454F"/>
                </a:solidFill>
                <a:latin typeface="Calibri"/>
              </a:defRPr>
            </a:pPr>
            <a:r>
              <a:t>Nouveaute : (i) quantifier le biais de C_L induit par l'offset dans un ajustement moleculaire 2–6 km ; (ii) un MODELE physique de l'offset (reponse a couplage AC, τ_p / τ_u) — extrapolable en distance, indexable en temperature.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36454F"/>
                </a:solidFill>
                <a:latin typeface="Cambria"/>
              </a:defRPr>
            </a:pPr>
            <a:r>
              <a:t>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E7B84"/>
                </a:solidFill>
                <a:latin typeface="Calibri"/>
              </a:defRPr>
            </a:pPr>
            <a:r>
              <a:t>Materielles (constructeur) et operationnelles (reseau)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F77B4"/>
                </a:solidFill>
                <a:latin typeface="Calibri"/>
              </a:defRPr>
            </a:pPr>
            <a:r>
              <a:t>Materiel / firmware (Vaisala)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Restauration de ligne de base / compensation pole-zero (baseline restorer) dans l'etage analogique — annule l'undershoot A LA SOURCE (remede standard)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Allonger τ (RC ≫ fenetre) ou couplage DC + ADC grande dynamique → undershoot negligeable/constant, trivial a soustraire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Gating / masquage du flash de champ proche (moins de charge du condensateur)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Echantillonnage pre-trigger de la ligne de base a chaque tir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Stabilisation thermique (TEC) → (A_u, τ_u) constants, corrigeables une fois pour toutes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Publier le signal BRUT (ou la baseline estimee) pour permettre la correction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F77B4"/>
                </a:solidFill>
                <a:latin typeface="Calibri"/>
              </a:defRPr>
            </a:pPr>
            <a:r>
              <a:t>Operationnel (E-PROFILE, des maintenant)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Constante NUAGE comme reference CL61 (deja le cas) ; Rayleigh natif = biais −10…−15 %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Soustraire le modele physique b(z)=[A_p e^−r/Lp − A_u e^−r/Lu]·z² (extrapolable, indexable en T)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Tests hood tous les ~3 mois par unite (la derive ENTRE sessions domine le terme temperature)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Methode « residu nuits claires » : residu du profil vs modele moleculaire complet, 3–6 km (validee : −0.021 ciel clair vs −0.015 hood)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Suivi mensuel du proxy 9–13 km sur le dashboard (derive d'offset par unite)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6454F"/>
                </a:solidFill>
                <a:latin typeface="Calibri"/>
              </a:defRPr>
            </a:pPr>
            <a:r>
              <a:t>• Escalade Vaisala avec le dossier complet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FFFFFF"/>
                </a:solidFill>
                <a:latin typeface="Cambria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 L'ecart Rayleigh–nuage du CL61 (−12 %) est cause aux ⅔ par un offset electronique negatif, mesure directement au telescope couvert (−0.008…−0.027 Mm⁻¹sr⁻¹).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2.  La preuve est causale : offset soustrait → ecart −26.5 % → −8.3 % (rampe) / −7.2 % (modele physique), dispersion nuit-a-nuit 0.1 %, et plus de nuits calibrables.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3.  Le signe de l'offset, propre a chaque unite, explique tout le reseau (Lindenberg positif → ratio inverse ; Aoste/Uccle saisonniers → cycles).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4.  Mecanisme : reponse d'une chaine a couplage AC (undershoot passe-haut), τ_p≈4.7 µs / τ_u≈30.5 µs ; l'afterpulse est exclu par le signe. Dependance temperature modeste, dans l'amplitude (gain APD) ; RC stable.</a:t>
            </a:r>
          </a:p>
          <a:p>
            <a:pPr algn="l">
              <a:spcAft>
                <a:spcPts val="90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5.  A faire : re-caracterisation hood ~trimestrielle, correction par modele physique, methode residu en routine, dossier Vaisala (baseline restorer).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